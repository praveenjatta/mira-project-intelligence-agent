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9202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40AF"/>
                </a:solidFill>
              </a:rPr>
              <a:t>Mira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1D48"/>
                </a:solidFill>
              </a:rPr>
              <a:t>Project Intelligence Assistant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AI-powered multi-agent system for project planning, risk assessment,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status reporting &amp; stakeholder communication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645920" y="384048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38404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n8n Workflow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384048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38404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GPT-4o-mini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3840480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0" y="38404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Slack Delivery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34340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Praveen Kumar Jatta · Senior TPM · PMP® CSPO® SMC® · JattaAI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🔴 The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</a:rPr>
              <a:t>What Nexora PMs/TPMs face every 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⏱️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</a:rPr>
              <a:t>3–4 Hours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3317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per project creating plans manually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11887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0592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📋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450592" y="19202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</a:rPr>
              <a:t>Inconsistent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50592" y="23317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risk assessments across projects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26864" y="11887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26864" y="19202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</a:rPr>
              <a:t>1–2 Hours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26864" y="23317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compiling weekly status reports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03136" y="1188720"/>
            <a:ext cx="1965960" cy="2377440"/>
          </a:xfrm>
          <a:prstGeom prst="roundRect">
            <a:avLst>
              <a:gd name="adj" fmla="val 4651"/>
            </a:avLst>
          </a:prstGeom>
          <a:solidFill>
            <a:srgbClr val="FEF2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03136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803136" y="19202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</a:rPr>
              <a:t>Missed Milestones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03136" y="233172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discovered only in retrospectives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703320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1E40AF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70332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💡  Mira automates all of this — one workflow, five specialist agents, two Slack channels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✅ The Solution — Mira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Multi-agent AI system built in n8n | Nexora × ABCDE Ltd. AI Adoption Project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</a:rPr>
              <a:t>What Mira Does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📋  Generates grounded project plans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92938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⚠️  Produces categorized risk matrices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25856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📊  Compiles weekly status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877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🏁  Tracks milestones &amp; flags at-risk items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91693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📧  Writes executive stakeholder emails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🤖  Auto 2pm daily digest to Slack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4206240" cy="3200400"/>
          </a:xfrm>
          <a:prstGeom prst="roundRect">
            <a:avLst>
              <a:gd name="adj" fmla="val 2857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Key Facts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600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Agents: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6 specialist agents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191109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Model: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191109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gpt-4o-mini (all agents)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2219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Triggers: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2219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Manual + Schedule (2pm)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25328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Outputs: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35040" y="25328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#mira-reports + #daily-2pm-digest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8437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Project Data: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35040" y="284378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25 tasks · 10 risks · 8 phases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154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Cost: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3154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~$0.20 / user / month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3465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</a:rPr>
              <a:t>Eval Score: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346557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0.99 / 1.00 · 12/12 PASS 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🏗️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Dual-trigger · Single Load Data node · Keyword Router → 5 specialist agents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1280160" cy="50292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" y="10058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</a:rPr>
              <a:t>⚡ Manual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</a:rPr>
              <a:t>Trigger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7160" y="1600200"/>
            <a:ext cx="1280160" cy="50292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" y="16002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</a:rPr>
              <a:t>🕐 Schedule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</a:rPr>
              <a:t>Trigger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54480" y="1005840"/>
            <a:ext cx="1280160" cy="502920"/>
          </a:xfrm>
          <a:prstGeom prst="roundRect">
            <a:avLst>
              <a:gd name="adj" fmla="val 12727"/>
            </a:avLst>
          </a:prstGeom>
          <a:solidFill>
            <a:srgbClr val="FFF7ED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0058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Set Source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manual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554480" y="1600200"/>
            <a:ext cx="1280160" cy="502920"/>
          </a:xfrm>
          <a:prstGeom prst="roundRect">
            <a:avLst>
              <a:gd name="adj" fmla="val 12727"/>
            </a:avLst>
          </a:prstGeom>
          <a:solidFill>
            <a:srgbClr val="FFF7ED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6002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Set Source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schedule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1188720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ECFE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1800" y="11887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</a:rPr>
              <a:t>📦 Load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</a:rPr>
              <a:t>Project Data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80560" y="118872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1887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🔀 Trigger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Router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97880" y="100584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FFF1F2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7880" y="100584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11D48"/>
                </a:solidFill>
              </a:rPr>
              <a:t>🔀 Main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11D48"/>
                </a:solidFill>
              </a:rPr>
              <a:t>Router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97880" y="192024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97880" y="192024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</a:rPr>
              <a:t>🤖 2pm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</a:rPr>
              <a:t>Digest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0" y="960120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960120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📋 Status Reporter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15200" y="1490472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DF4FF"/>
          </a:solidFill>
          <a:ln w="15240">
            <a:solidFill>
              <a:srgbClr val="C026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0" y="149047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⚠️ Risk Assessor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0" y="2020824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EEF2FF"/>
          </a:solidFill>
          <a:ln w="15240">
            <a:solidFill>
              <a:srgbClr val="4F46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2020824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🏁 Milestone Tracker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15200" y="2551176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0FDFA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0" y="2551176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🗓️ Planner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3081528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EF2F2"/>
          </a:solidFill>
          <a:ln w="15240">
            <a:solidFill>
              <a:srgbClr val="E11D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3081528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📧 Stakeholder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417320" y="1252728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17320" y="1847088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34640" y="150876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3400" y="150876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60720" y="132588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78040" y="132588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78040" y="137160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78040" y="141732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78040" y="146304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78040" y="1508760"/>
            <a:ext cx="137160" cy="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15200" y="3547872"/>
            <a:ext cx="1645920" cy="411480"/>
          </a:xfrm>
          <a:prstGeom prst="roundRect">
            <a:avLst>
              <a:gd name="adj" fmla="val 15556"/>
            </a:avLst>
          </a:prstGeom>
          <a:solidFill>
            <a:srgbClr val="FEF2F2"/>
          </a:solidFill>
          <a:ln w="15240">
            <a:solidFill>
              <a:srgbClr val="E11D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354787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11D48"/>
                </a:solidFill>
              </a:rPr>
              <a:t>💬 #mira-reports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897880" y="3547872"/>
            <a:ext cx="1280160" cy="411480"/>
          </a:xfrm>
          <a:prstGeom prst="roundRect">
            <a:avLst>
              <a:gd name="adj" fmla="val 15556"/>
            </a:avLst>
          </a:prstGeom>
          <a:solidFill>
            <a:srgbClr val="F0FDF4"/>
          </a:solidFill>
          <a:ln w="15240">
            <a:solidFill>
              <a:srgbClr val="16A3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97880" y="3547872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💬 #daily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</a:rPr>
              <a:t>2pm-digest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📦 Project Data — ABCDE Ltd. AI Adoption Project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FBF1"/>
                </a:solidFill>
              </a:rPr>
              <a:t>Nexora Pvt. Ltd. delivering AI adoption for a mid-sized logistics &amp; supply chain company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051560"/>
            <a:ext cx="2057400" cy="3246120"/>
          </a:xfrm>
          <a:prstGeom prst="roundRect">
            <a:avLst>
              <a:gd name="adj" fmla="val 4444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972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" y="155448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</a:rPr>
              <a:t>Project Description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193852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ABCDE Ltd. — logistics &amp; supply chain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74320" y="23774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Goals: -15% delivery delays · -10% costs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4320" y="281635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Focus: demand forecasting, route optimization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4320" y="3255264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AI adoption across 4 business functions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95728" y="1051560"/>
            <a:ext cx="2057400" cy="3246120"/>
          </a:xfrm>
          <a:prstGeom prst="roundRect">
            <a:avLst>
              <a:gd name="adj" fmla="val 4444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95728" y="10972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395728" y="155448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Timeline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87168" y="193852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8 phases · 24 weeks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87168" y="23774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Phase 1: Project Initiation (W1-2)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487168" y="281635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Phase 4: Pilot Design (W7-10)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487168" y="3255264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Phase 7: Full Deployment (W17-22)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08576" y="1051560"/>
            <a:ext cx="2057400" cy="3246120"/>
          </a:xfrm>
          <a:prstGeom prst="roundRect">
            <a:avLst>
              <a:gd name="adj" fmla="val 4444"/>
            </a:avLst>
          </a:prstGeom>
          <a:solidFill>
            <a:srgbClr val="FEF2F2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10972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⚠️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608576" y="155448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11D48"/>
                </a:solidFill>
              </a:rPr>
              <a:t>Risk Register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0016" y="193852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10 risks (R01–R10)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0016" y="23774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R01: Data Quality &amp; Availability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0016" y="281635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R02: Integration Issues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0016" y="3255264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R03: Talent &amp; Skills Gap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821424" y="1051560"/>
            <a:ext cx="2057400" cy="3246120"/>
          </a:xfrm>
          <a:prstGeom prst="roundRect">
            <a:avLst>
              <a:gd name="adj" fmla="val 4444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1424" y="10972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821424" y="155448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Task Board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12864" y="1938528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25 tasks (T001–T025)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12864" y="23774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✅ Done: 5 · 🔄 In Progress: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12864" y="2816352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📝 To Do: 16 · 🔴 Blocked: 1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912864" y="3255264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T024 BLOCKED — Security review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📊 Baseline Test Results — 12 Test Cases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All 5 agents tested · Before &amp; after prompt engineering fixes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920240" cy="868680"/>
          </a:xfrm>
          <a:prstGeom prst="roundRect">
            <a:avLst>
              <a:gd name="adj" fmla="val 9474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051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F6"/>
                </a:solidFill>
              </a:rPr>
              <a:t>12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" y="15270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Total Tests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50592" y="1005840"/>
            <a:ext cx="1920240" cy="868680"/>
          </a:xfrm>
          <a:prstGeom prst="roundRect">
            <a:avLst>
              <a:gd name="adj" fmla="val 9474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0592" y="1051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</a:rPr>
              <a:t>10/12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50592" y="15270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Baseline Pass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6864" y="1005840"/>
            <a:ext cx="1920240" cy="868680"/>
          </a:xfrm>
          <a:prstGeom prst="roundRect">
            <a:avLst>
              <a:gd name="adj" fmla="val 9474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51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</a:rPr>
              <a:t>12/12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26864" y="15270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After Fixes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03136" y="1005840"/>
            <a:ext cx="1920240" cy="868680"/>
          </a:xfrm>
          <a:prstGeom prst="roundRect">
            <a:avLst>
              <a:gd name="adj" fmla="val 9474"/>
            </a:avLst>
          </a:prstGeom>
          <a:solidFill>
            <a:srgbClr val="ECFE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03136" y="1051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9488"/>
                </a:solidFill>
              </a:rPr>
              <a:t>0.99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03136" y="15270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Final Score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2011680"/>
            <a:ext cx="548640" cy="237744"/>
          </a:xfrm>
          <a:prstGeom prst="rect">
            <a:avLst/>
          </a:prstGeom>
          <a:solidFill>
            <a:srgbClr val="1E40A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" y="2011680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2011680"/>
            <a:ext cx="1828800" cy="237744"/>
          </a:xfrm>
          <a:prstGeom prst="rect">
            <a:avLst/>
          </a:prstGeom>
          <a:solidFill>
            <a:srgbClr val="1E40A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011680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Agent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011680"/>
            <a:ext cx="2834640" cy="237744"/>
          </a:xfrm>
          <a:prstGeom prst="rect">
            <a:avLst/>
          </a:prstGeom>
          <a:solidFill>
            <a:srgbClr val="1E40A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201168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Baseline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94960" y="2011680"/>
            <a:ext cx="2834640" cy="237744"/>
          </a:xfrm>
          <a:prstGeom prst="rect">
            <a:avLst/>
          </a:prstGeom>
          <a:solidFill>
            <a:srgbClr val="1E40A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94960" y="201168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Final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2880" y="2249424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" y="2249424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1520" y="2249424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2249424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Planner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60320" y="224942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60320" y="224942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94960" y="224942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224942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2487168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2487168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T2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" y="2487168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2487168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Risk Assessor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0320" y="2487168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60320" y="248716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94960" y="2487168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94960" y="248716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2880" y="2724912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2880" y="2724912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1520" y="2724912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2724912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Risk Assessor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560320" y="2724912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60320" y="2724912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94960" y="2724912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94960" y="2724912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82880" y="2962656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2962656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T4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" y="2962656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2962656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Planner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560320" y="2962656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60320" y="2962656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394960" y="2962656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94960" y="2962656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182880" y="3200400"/>
            <a:ext cx="548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2880" y="3200400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T5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1520" y="3200400"/>
            <a:ext cx="182880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1520" y="3200400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Status Reporter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560320" y="3200400"/>
            <a:ext cx="2834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320" y="320040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11D48"/>
                </a:solidFill>
              </a:rPr>
              <a:t>⚠️ PARTIAL (0.17)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394960" y="3200400"/>
            <a:ext cx="2834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94960" y="320040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11D48"/>
                </a:solidFill>
              </a:rPr>
              <a:t>✅ PASS (1.00)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82880" y="3438144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82880" y="3438144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T6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1520" y="3438144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3438144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Status Reporter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560320" y="343814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560320" y="343814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394960" y="343814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394960" y="343814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182880" y="3675888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82880" y="3675888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T7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31520" y="3675888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" y="3675888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Risk Assessor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560320" y="3675888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560320" y="367588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394960" y="3675888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94960" y="367588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82880" y="3913632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82880" y="3913632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T8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731520" y="3913632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31520" y="3913632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Milestone Tracker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2560320" y="3913632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560320" y="3913632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5394960" y="3913632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94960" y="3913632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82880" y="4151376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82880" y="4151376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T9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31520" y="4151376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" y="4151376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Milestone Tracker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2560320" y="4151376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560320" y="4151376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394960" y="4151376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394960" y="4151376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82880" y="4389120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82880" y="4389120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T10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731520" y="4389120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3152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Risk Assessor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560320" y="4389120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560320" y="438912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5394960" y="4389120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94960" y="4389120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182880" y="4626864"/>
            <a:ext cx="548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82880" y="4626864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T11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731520" y="4626864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31520" y="4626864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Milestone Tracker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2560320" y="462686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560320" y="462686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5394960" y="4626864"/>
            <a:ext cx="28346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394960" y="4626864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✅ PASS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182880" y="4864608"/>
            <a:ext cx="548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82880" y="4864608"/>
            <a:ext cx="548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T12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731520" y="4864608"/>
            <a:ext cx="182880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31520" y="4864608"/>
            <a:ext cx="182880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Stakeholder Update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2560320" y="4864608"/>
            <a:ext cx="2834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60320" y="486460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11D48"/>
                </a:solidFill>
              </a:rPr>
              <a:t>⚠️ PARTIAL (0.63)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5394960" y="4864608"/>
            <a:ext cx="283464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94960" y="4864608"/>
            <a:ext cx="2834640" cy="2377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E11D48"/>
                </a:solidFill>
              </a:rPr>
              <a:t>✅ PASS (1.00)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🔬 Phase 4 — LLM Judge Evaluation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FBF1"/>
                </a:solidFill>
              </a:rPr>
              <a:t>DeepEval + gpt-4o-mini as automated judge · mira-eval repo on GitHub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28600" y="1481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</a:rPr>
              <a:t>Groundedness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180136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Is the output grounded in actual project data? No hallucinations?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36392" y="1005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36392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36392" y="1481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Completeness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27832" y="180136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Does it cover all expected keywords and meet the pass criteria?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44184" y="1005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ECFE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4184" y="10515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44184" y="14813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Accuracy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35624" y="180136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Is the information correct? Avoids must-not-contain phrases?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" y="26060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</a:rPr>
              <a:t>🪜 Fix Ladder Applied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28600" y="2999232"/>
            <a:ext cx="8686800" cy="338328"/>
          </a:xfrm>
          <a:prstGeom prst="roundRect">
            <a:avLst>
              <a:gd name="adj" fmla="val 16216"/>
            </a:avLst>
          </a:prstGeom>
          <a:solidFill>
            <a:srgbClr val="FEF2F2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999232"/>
            <a:ext cx="29260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11D48"/>
                </a:solidFill>
              </a:rPr>
              <a:t>L1 — Prompt Engineering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91840" y="2999232"/>
            <a:ext cx="1097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1D48"/>
                </a:solidFill>
              </a:rPr>
              <a:t>✅ USED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2999232"/>
            <a:ext cx="4297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Fixed T5 (0.17→1.00) + T12 (0.63→1.00)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3383280"/>
            <a:ext cx="8686800" cy="338328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383280"/>
            <a:ext cx="29260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L2 — Pipeline Restructuring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91840" y="3383280"/>
            <a:ext cx="1097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⏭️ Skip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80560" y="3383280"/>
            <a:ext cx="4297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Not needed — prompts solved both failures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3767328"/>
            <a:ext cx="8686800" cy="338328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767328"/>
            <a:ext cx="29260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L3 — Model Swapping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91840" y="3767328"/>
            <a:ext cx="1097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⏭️ Skip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80560" y="3767328"/>
            <a:ext cx="4297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gpt-4o-mini sufficient after prompt fixes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" y="4151376"/>
            <a:ext cx="8686800" cy="338328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51376"/>
            <a:ext cx="29260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L4 — RAG / Better Grounding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91840" y="4151376"/>
            <a:ext cx="1097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⏭️ Skip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4151376"/>
            <a:ext cx="4297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Data format fixed the grounding issue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28600" y="4535424"/>
            <a:ext cx="8686800" cy="338328"/>
          </a:xfrm>
          <a:prstGeom prst="roundRect">
            <a:avLst>
              <a:gd name="adj" fmla="val 16216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535424"/>
            <a:ext cx="29260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L5 — Fine-Tuning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91840" y="4535424"/>
            <a:ext cx="1097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⏭️ Skip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80560" y="4535424"/>
            <a:ext cx="4297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Last resort — never reached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💰 Cost Analysis &amp; Key Learnings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FBF1"/>
                </a:solidFill>
              </a:rPr>
              <a:t>~$0.20 / user / month · Lever 1 only · Prompt engineering as first fix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0584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0FDF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789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💰 Cost Breakdown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463040"/>
            <a:ext cx="3886200" cy="274320"/>
          </a:xfrm>
          <a:prstGeom prst="rect">
            <a:avLst/>
          </a:prstGeom>
          <a:solidFill>
            <a:srgbClr val="0D9488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46304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Component | Model | Est.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737360"/>
            <a:ext cx="3886200" cy="274320"/>
          </a:xfrm>
          <a:prstGeom prst="rect">
            <a:avLst/>
          </a:prstGeom>
          <a:solidFill>
            <a:srgbClr val="ECFE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5 specialist agents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65960" y="1737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gpt-4o-mini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63240" y="17373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~$0.002/req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11680"/>
            <a:ext cx="38862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11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2pm Digest (daily)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96596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gpt-4o-mini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63240" y="20116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~$0.004/day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286000"/>
            <a:ext cx="3886200" cy="274320"/>
          </a:xfrm>
          <a:prstGeom prst="rect">
            <a:avLst/>
          </a:prstGeom>
          <a:solidFill>
            <a:srgbClr val="ECFE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860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Monthly (1 user)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65960" y="2286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6324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~$0.12/mo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560320"/>
            <a:ext cx="388620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560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Monthly (10 users)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6596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06324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~$1.20/mo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2834640"/>
            <a:ext cx="3886200" cy="274320"/>
          </a:xfrm>
          <a:prstGeom prst="rect">
            <a:avLst/>
          </a:prstGeom>
          <a:solidFill>
            <a:srgbClr val="ECFE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Monthly (50 users)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965960" y="28346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063240" y="28346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</a:rPr>
              <a:t>~$6.00/mo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127248"/>
            <a:ext cx="3886200" cy="594360"/>
          </a:xfrm>
          <a:prstGeom prst="roundRect">
            <a:avLst>
              <a:gd name="adj" fmla="val 10769"/>
            </a:avLst>
          </a:prstGeom>
          <a:solidFill>
            <a:srgbClr val="1E40AF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3127248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ROI: Saves 3–4 hrs/project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~$0.20/user/month — enterprise-ready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34840" y="1005840"/>
            <a:ext cx="4480560" cy="2834640"/>
          </a:xfrm>
          <a:prstGeom prst="roundRect">
            <a:avLst>
              <a:gd name="adj" fmla="val 3226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0" y="107899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🔑 Key Learnings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26280" y="1481328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937760" y="148132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Prompt engineering alone fixed both T5 &amp; T12 — no fine-tuning needed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26280" y="1938528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937760" y="193852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Robust node references ($("Load Project Data")) prevent path-dependent failures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26280" y="2395728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37760" y="239572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Data format matters — explicit STATUS: labels improved grounding accuracy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26280" y="2852928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4937760" y="285292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LLM judge should run after every fix, not just at the end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26280" y="3310128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937760" y="3310128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Guardrails in prompts prevent hallucination better than post-processing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🛠️ Tech Stack &amp; Repository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n8n · OpenAI · Slack · DeepEval · Python 3.11 · GitHub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05156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EF2F2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1247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28600" y="1554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11D48"/>
                </a:solidFill>
              </a:rPr>
              <a:t>n8n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185623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Workflow automation &amp; multi-agent orchestration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72968" y="105156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72968" y="11247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72968" y="1554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OpenAI gpt-4o-mini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185623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Powers all 6 AI agents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17336" y="105156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17336" y="11247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17336" y="15544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Slack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08776" y="185623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#mira-reports + #daily-2pm-digest delivery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24688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54203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2860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DeepEval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" y="32735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LLM-judge evaluation framework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72968" y="24688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72968" y="254203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172968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Python 3.11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64408" y="32735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Evaluation scripts &amp; automation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17336" y="24688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ECFE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17336" y="254203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🐙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17336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GitHub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08776" y="32735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F172A"/>
                </a:solidFill>
              </a:rPr>
              <a:t>mira-project-intelligence-agent + mira-eval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" y="3913632"/>
            <a:ext cx="868680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31" name="Text 29"/>
          <p:cNvSpPr/>
          <p:nvPr/>
        </p:nvSpPr>
        <p:spPr>
          <a:xfrm>
            <a:off x="228600" y="3913632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🐙  github.com/praveenjatta/mira-project-intelligence-agent   |   github.com/praveenjatta/mira-eval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Mira — Project Intelligence Assistant | Praveen Kumar Jatta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0AF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40AF"/>
                </a:solidFill>
              </a:rPr>
              <a:t>Mira — Project Intelligence Assistant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60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12/12 Tests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0" y="256032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560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Score: 0.99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56032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560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L1 Fix Only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256032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2560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$0.20/user/mo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31089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0AF"/>
                </a:solidFill>
              </a:rPr>
              <a:t>Praveen Kumar Jatta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45643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Senior TPM · PMP® CSPO® SMC® · AI Automation Consultant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🌐 jattaai.com  ·  💼 linkedin.com/in/praveenjatta  ·  🐙 github.com/praveenjatta  ·  📅 Book a call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0" y="420624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228600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Built with ❤️ for the Applied Agentic AI Capstone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2026-08-22T06:35:05Z</dcterms:created>
  <dcterms:modified xsi:type="dcterms:W3CDTF">2026-08-22T06:35:05Z</dcterms:modified>
</cp:coreProperties>
</file>